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0" r:id="rId4"/>
    <p:sldId id="258" r:id="rId5"/>
    <p:sldId id="267" r:id="rId6"/>
    <p:sldId id="268" r:id="rId7"/>
    <p:sldId id="261" r:id="rId8"/>
    <p:sldId id="263" r:id="rId9"/>
    <p:sldId id="264" r:id="rId10"/>
    <p:sldId id="270" r:id="rId11"/>
    <p:sldId id="271" r:id="rId12"/>
    <p:sldId id="272" r:id="rId13"/>
    <p:sldId id="265" r:id="rId14"/>
    <p:sldId id="266" r:id="rId15"/>
  </p:sldIdLst>
  <p:sldSz cx="9753600" cy="7315200"/>
  <p:notesSz cx="9753600" cy="73152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8" autoAdjust="0"/>
    <p:restoredTop sz="94660"/>
  </p:normalViewPr>
  <p:slideViewPr>
    <p:cSldViewPr>
      <p:cViewPr varScale="1">
        <p:scale>
          <a:sx n="79" d="100"/>
          <a:sy n="79" d="100"/>
        </p:scale>
        <p:origin x="1411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31520" y="2267712"/>
            <a:ext cx="8290560" cy="15361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chemeClr val="hlink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463040" y="4096512"/>
            <a:ext cx="6827520" cy="1828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hlink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hlink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87680" y="1682496"/>
            <a:ext cx="4242816" cy="48280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3104" y="1682496"/>
            <a:ext cx="4242816" cy="48280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chemeClr val="hlink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-1"/>
            <a:ext cx="9752710" cy="731456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538" y="429514"/>
            <a:ext cx="6090284" cy="9215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0" i="0">
                <a:solidFill>
                  <a:schemeClr val="hlink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46708" y="1365757"/>
            <a:ext cx="8472170" cy="3505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316224" y="6803136"/>
            <a:ext cx="3121152" cy="3657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7680" y="6803136"/>
            <a:ext cx="2243328" cy="3657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022592" y="6803136"/>
            <a:ext cx="2243328" cy="3657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533400" y="703909"/>
            <a:ext cx="10443731" cy="1091580"/>
          </a:xfrm>
          <a:prstGeom prst="rect">
            <a:avLst/>
          </a:prstGeom>
        </p:spPr>
        <p:txBody>
          <a:bodyPr vert="horz" wrap="square" lIns="0" tIns="227583" rIns="0" bIns="0" rtlCol="0">
            <a:spAutoFit/>
          </a:bodyPr>
          <a:lstStyle/>
          <a:p>
            <a:pPr marL="3460115" algn="ctr">
              <a:lnSpc>
                <a:spcPct val="100000"/>
              </a:lnSpc>
              <a:spcBef>
                <a:spcPts val="100"/>
              </a:spcBef>
            </a:pPr>
            <a:r>
              <a:rPr lang="en-US" sz="2800" b="1" dirty="0">
                <a:solidFill>
                  <a:schemeClr val="tx1"/>
                </a:solidFill>
              </a:rPr>
              <a:t>KONGU ENGINEERING COLLEGE </a:t>
            </a:r>
            <a:br>
              <a:rPr lang="en-US" sz="2800" b="1" dirty="0">
                <a:solidFill>
                  <a:schemeClr val="tx1"/>
                </a:solidFill>
              </a:rPr>
            </a:br>
            <a:r>
              <a:rPr lang="en-US" sz="2800" b="1" dirty="0">
                <a:solidFill>
                  <a:schemeClr val="tx1"/>
                </a:solidFill>
              </a:rPr>
              <a:t>DEPARTMENT OF AI&amp;DS</a:t>
            </a:r>
            <a:endParaRPr sz="2700" b="1" dirty="0">
              <a:solidFill>
                <a:schemeClr val="tx1"/>
              </a:solidFill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951457" y="2016781"/>
            <a:ext cx="6440170" cy="4199291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12700" marR="5080" algn="ctr">
              <a:lnSpc>
                <a:spcPts val="3210"/>
              </a:lnSpc>
              <a:spcBef>
                <a:spcPts val="325"/>
              </a:spcBef>
            </a:pPr>
            <a:endParaRPr lang="en-US" sz="2800" b="1" spc="-2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60"/>
              </a:spcBef>
            </a:pPr>
            <a:r>
              <a:rPr lang="en-US" sz="28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HCL PROJECT </a:t>
            </a:r>
          </a:p>
          <a:p>
            <a:pPr algn="ctr">
              <a:lnSpc>
                <a:spcPct val="100000"/>
              </a:lnSpc>
              <a:spcBef>
                <a:spcPts val="60"/>
              </a:spcBef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93700" algn="ctr">
              <a:lnSpc>
                <a:spcPct val="150000"/>
              </a:lnSpc>
            </a:pPr>
            <a:r>
              <a:rPr lang="en-US" sz="26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Pneumonia Detection from Chest X-Ray Using Deep CNN and Attention Models</a:t>
            </a:r>
            <a:endParaRPr sz="2200" dirty="0">
              <a:latin typeface="Times New Roman"/>
              <a:cs typeface="Times New Roman"/>
            </a:endParaRPr>
          </a:p>
          <a:p>
            <a:pPr marL="394970" algn="l">
              <a:lnSpc>
                <a:spcPts val="2620"/>
              </a:lnSpc>
              <a:spcBef>
                <a:spcPts val="2455"/>
              </a:spcBef>
            </a:pPr>
            <a:r>
              <a:rPr lang="en-US" sz="2200" b="1" spc="-10" dirty="0">
                <a:latin typeface="Times New Roman"/>
                <a:cs typeface="Times New Roman"/>
              </a:rPr>
              <a:t>	</a:t>
            </a:r>
            <a:r>
              <a:rPr sz="2200" b="1" spc="-10" dirty="0">
                <a:latin typeface="Times New Roman"/>
                <a:cs typeface="Times New Roman"/>
              </a:rPr>
              <a:t>Project</a:t>
            </a:r>
            <a:r>
              <a:rPr sz="2200" b="1" spc="-120" dirty="0">
                <a:latin typeface="Times New Roman"/>
                <a:cs typeface="Times New Roman"/>
              </a:rPr>
              <a:t> </a:t>
            </a:r>
            <a:r>
              <a:rPr sz="2200" b="1" spc="-10" dirty="0">
                <a:latin typeface="Times New Roman"/>
                <a:cs typeface="Times New Roman"/>
              </a:rPr>
              <a:t>Members</a:t>
            </a:r>
            <a:r>
              <a:rPr lang="en-US" sz="2200" b="1" spc="-10" dirty="0">
                <a:latin typeface="Times New Roman"/>
                <a:cs typeface="Times New Roman"/>
              </a:rPr>
              <a:t> : </a:t>
            </a:r>
            <a:endParaRPr sz="2200" dirty="0">
              <a:latin typeface="Times New Roman"/>
              <a:cs typeface="Times New Roman"/>
            </a:endParaRPr>
          </a:p>
          <a:p>
            <a:pPr marL="1506220" marR="586105" algn="l">
              <a:lnSpc>
                <a:spcPct val="98700"/>
              </a:lnSpc>
              <a:spcBef>
                <a:spcPts val="20"/>
              </a:spcBef>
            </a:pPr>
            <a:r>
              <a:rPr sz="2200" spc="-10" dirty="0">
                <a:latin typeface="Times New Roman"/>
                <a:cs typeface="Times New Roman"/>
              </a:rPr>
              <a:t>KARUNAMBIKA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(24ADR065) </a:t>
            </a:r>
            <a:r>
              <a:rPr sz="2200" dirty="0">
                <a:latin typeface="Times New Roman"/>
                <a:cs typeface="Times New Roman"/>
              </a:rPr>
              <a:t>NAVIN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NAGENDAR</a:t>
            </a:r>
            <a:r>
              <a:rPr sz="2200" spc="-6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(24ADR092) </a:t>
            </a:r>
            <a:r>
              <a:rPr sz="2200" spc="-20" dirty="0">
                <a:latin typeface="Times New Roman"/>
                <a:cs typeface="Times New Roman"/>
              </a:rPr>
              <a:t>SRIDHARAN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</a:t>
            </a:r>
            <a:r>
              <a:rPr sz="2200" spc="-14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(24ADL193)</a:t>
            </a:r>
            <a:endParaRPr sz="2200" dirty="0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7587"/>
            <a:ext cx="2828290" cy="7307580"/>
            <a:chOff x="0" y="7587"/>
            <a:chExt cx="2828290" cy="730758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7587"/>
              <a:ext cx="2827908" cy="7307452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2790" y="5410098"/>
              <a:ext cx="1343659" cy="161899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8069" y="152323"/>
              <a:ext cx="1282065" cy="99169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831658" y="493639"/>
            <a:ext cx="6090284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16075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PROBLEM STATEMENT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1143000" y="1752600"/>
            <a:ext cx="7320280" cy="457708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5080" indent="-343535" algn="just">
              <a:lnSpc>
                <a:spcPct val="100000"/>
              </a:lnSpc>
              <a:spcBef>
                <a:spcPts val="100"/>
              </a:spcBef>
              <a:buFont typeface="Wingdings"/>
              <a:buChar char=""/>
              <a:tabLst>
                <a:tab pos="356870" algn="l"/>
              </a:tabLst>
            </a:pPr>
            <a:r>
              <a:rPr sz="2200" dirty="0">
                <a:latin typeface="Times New Roman"/>
                <a:cs typeface="Times New Roman"/>
              </a:rPr>
              <a:t>Pneumonia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is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serious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respiratory</a:t>
            </a:r>
            <a:r>
              <a:rPr sz="2200" spc="-3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infection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that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requires 	</a:t>
            </a:r>
            <a:r>
              <a:rPr sz="2200" dirty="0">
                <a:latin typeface="Times New Roman"/>
                <a:cs typeface="Times New Roman"/>
              </a:rPr>
              <a:t>early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diagnosis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and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immediate</a:t>
            </a:r>
            <a:r>
              <a:rPr sz="2200" spc="-10" dirty="0">
                <a:latin typeface="Times New Roman"/>
                <a:cs typeface="Times New Roman"/>
              </a:rPr>
              <a:t> treatment.</a:t>
            </a:r>
            <a:endParaRPr sz="2200" dirty="0">
              <a:latin typeface="Times New Roman"/>
              <a:cs typeface="Times New Roman"/>
            </a:endParaRPr>
          </a:p>
          <a:p>
            <a:pPr algn="just">
              <a:lnSpc>
                <a:spcPct val="100000"/>
              </a:lnSpc>
              <a:spcBef>
                <a:spcPts val="100"/>
              </a:spcBef>
              <a:buFont typeface="Wingdings"/>
              <a:buChar char=""/>
            </a:pPr>
            <a:endParaRPr sz="2200" dirty="0">
              <a:latin typeface="Times New Roman"/>
              <a:cs typeface="Times New Roman"/>
            </a:endParaRPr>
          </a:p>
          <a:p>
            <a:pPr marL="355600" marR="365760" indent="-343535" algn="just">
              <a:lnSpc>
                <a:spcPct val="99400"/>
              </a:lnSpc>
              <a:spcBef>
                <a:spcPts val="5"/>
              </a:spcBef>
              <a:buFont typeface="Wingdings"/>
              <a:buChar char=""/>
              <a:tabLst>
                <a:tab pos="356870" algn="l"/>
              </a:tabLst>
            </a:pPr>
            <a:r>
              <a:rPr sz="2200" dirty="0">
                <a:latin typeface="Times New Roman"/>
                <a:cs typeface="Times New Roman"/>
              </a:rPr>
              <a:t>Chest </a:t>
            </a:r>
            <a:r>
              <a:rPr sz="2200" spc="-25" dirty="0">
                <a:latin typeface="Times New Roman"/>
                <a:cs typeface="Times New Roman"/>
              </a:rPr>
              <a:t>X-</a:t>
            </a:r>
            <a:r>
              <a:rPr sz="2200" dirty="0">
                <a:latin typeface="Times New Roman"/>
                <a:cs typeface="Times New Roman"/>
              </a:rPr>
              <a:t>ray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imaging is</a:t>
            </a:r>
            <a:r>
              <a:rPr sz="2200" spc="-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 most</a:t>
            </a:r>
            <a:r>
              <a:rPr sz="2200" spc="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common</a:t>
            </a:r>
            <a:r>
              <a:rPr sz="2200" spc="-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diagnostic 	</a:t>
            </a:r>
            <a:r>
              <a:rPr sz="2200" dirty="0">
                <a:latin typeface="Times New Roman"/>
                <a:cs typeface="Times New Roman"/>
              </a:rPr>
              <a:t>tool,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but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manual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interpretation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by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radiologists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is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time-	consuming.</a:t>
            </a:r>
            <a:endParaRPr sz="2200" dirty="0">
              <a:latin typeface="Times New Roman"/>
              <a:cs typeface="Times New Roman"/>
            </a:endParaRPr>
          </a:p>
          <a:p>
            <a:pPr algn="just">
              <a:lnSpc>
                <a:spcPct val="100000"/>
              </a:lnSpc>
              <a:spcBef>
                <a:spcPts val="90"/>
              </a:spcBef>
              <a:buFont typeface="Wingdings"/>
              <a:buChar char=""/>
            </a:pPr>
            <a:endParaRPr sz="2200" dirty="0">
              <a:latin typeface="Times New Roman"/>
              <a:cs typeface="Times New Roman"/>
            </a:endParaRPr>
          </a:p>
          <a:p>
            <a:pPr marL="355600" marR="309245" indent="-343535" algn="just">
              <a:lnSpc>
                <a:spcPts val="2870"/>
              </a:lnSpc>
              <a:buFont typeface="Wingdings"/>
              <a:buChar char=""/>
              <a:tabLst>
                <a:tab pos="356870" algn="l"/>
              </a:tabLst>
            </a:pPr>
            <a:r>
              <a:rPr sz="2200" dirty="0">
                <a:latin typeface="Times New Roman"/>
                <a:cs typeface="Times New Roman"/>
              </a:rPr>
              <a:t>Deep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Learning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models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(like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CNNs)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can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automatically 	</a:t>
            </a:r>
            <a:r>
              <a:rPr sz="2200" dirty="0">
                <a:latin typeface="Times New Roman"/>
                <a:cs typeface="Times New Roman"/>
              </a:rPr>
              <a:t>learn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and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extract</a:t>
            </a:r>
            <a:r>
              <a:rPr sz="2200" spc="-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complex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spatial</a:t>
            </a:r>
            <a:r>
              <a:rPr sz="2200" spc="-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features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from </a:t>
            </a:r>
            <a:r>
              <a:rPr sz="2200" spc="-20" dirty="0">
                <a:latin typeface="Times New Roman"/>
                <a:cs typeface="Times New Roman"/>
              </a:rPr>
              <a:t>X-rays</a:t>
            </a:r>
            <a:endParaRPr sz="2200" dirty="0">
              <a:latin typeface="Times New Roman"/>
              <a:cs typeface="Times New Roman"/>
            </a:endParaRPr>
          </a:p>
          <a:p>
            <a:pPr marL="355600" marR="73025" indent="-343535" algn="just">
              <a:lnSpc>
                <a:spcPts val="2870"/>
              </a:lnSpc>
              <a:spcBef>
                <a:spcPts val="2745"/>
              </a:spcBef>
              <a:buFont typeface="Wingdings"/>
              <a:buChar char=""/>
              <a:tabLst>
                <a:tab pos="356870" algn="l"/>
              </a:tabLst>
            </a:pPr>
            <a:r>
              <a:rPr sz="2200" dirty="0">
                <a:latin typeface="Times New Roman"/>
                <a:cs typeface="Times New Roman"/>
              </a:rPr>
              <a:t>This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project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automates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the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detection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process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to</a:t>
            </a:r>
            <a:r>
              <a:rPr sz="2200" spc="-10" dirty="0">
                <a:latin typeface="Times New Roman"/>
                <a:cs typeface="Times New Roman"/>
              </a:rPr>
              <a:t> predict 	</a:t>
            </a:r>
            <a:r>
              <a:rPr sz="2200" dirty="0">
                <a:latin typeface="Times New Roman"/>
                <a:cs typeface="Times New Roman"/>
              </a:rPr>
              <a:t>whether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a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patient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is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Normal</a:t>
            </a:r>
            <a:r>
              <a:rPr sz="2200" spc="-1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or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has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Pneumonia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with</a:t>
            </a:r>
            <a:r>
              <a:rPr sz="2200" spc="-20" dirty="0">
                <a:latin typeface="Times New Roman"/>
                <a:cs typeface="Times New Roman"/>
              </a:rPr>
              <a:t> high 	</a:t>
            </a:r>
            <a:r>
              <a:rPr sz="2200" spc="-10" dirty="0">
                <a:latin typeface="Times New Roman"/>
                <a:cs typeface="Times New Roman"/>
              </a:rPr>
              <a:t>accuracy.</a:t>
            </a:r>
            <a:endParaRPr sz="2200" dirty="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" y="56514"/>
            <a:ext cx="541655" cy="6743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05535">
              <a:lnSpc>
                <a:spcPct val="100000"/>
              </a:lnSpc>
              <a:spcBef>
                <a:spcPts val="100"/>
              </a:spcBef>
            </a:pPr>
            <a:r>
              <a:rPr spc="-35" dirty="0"/>
              <a:t>LITERATURE</a:t>
            </a:r>
            <a:r>
              <a:rPr spc="-114" dirty="0"/>
              <a:t> </a:t>
            </a:r>
            <a:r>
              <a:rPr spc="-10" dirty="0"/>
              <a:t>SURVEY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955173"/>
              </p:ext>
            </p:extLst>
          </p:nvPr>
        </p:nvGraphicFramePr>
        <p:xfrm>
          <a:off x="1219200" y="1365757"/>
          <a:ext cx="8150147" cy="381584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34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94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54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1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4520">
                <a:tc>
                  <a:txBody>
                    <a:bodyPr/>
                    <a:lstStyle/>
                    <a:p>
                      <a:pPr marL="420370">
                        <a:lnSpc>
                          <a:spcPct val="100000"/>
                        </a:lnSpc>
                        <a:spcBef>
                          <a:spcPts val="1480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JOURNEL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879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 algn="ctr">
                        <a:lnSpc>
                          <a:spcPct val="100000"/>
                        </a:lnSpc>
                        <a:spcBef>
                          <a:spcPts val="1480"/>
                        </a:spcBef>
                      </a:pP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YEAR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879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 algn="ctr">
                        <a:lnSpc>
                          <a:spcPct val="100000"/>
                        </a:lnSpc>
                        <a:spcBef>
                          <a:spcPts val="1480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TITLE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879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510" algn="ctr">
                        <a:lnSpc>
                          <a:spcPct val="100000"/>
                        </a:lnSpc>
                        <a:spcBef>
                          <a:spcPts val="1480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METHODOLOGY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879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240" algn="ctr">
                        <a:lnSpc>
                          <a:spcPct val="100000"/>
                        </a:lnSpc>
                        <a:spcBef>
                          <a:spcPts val="1480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METRICS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879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62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R="340995" algn="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IEEE</a:t>
                      </a:r>
                      <a:r>
                        <a:rPr sz="14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Xplore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88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4604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2023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88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01955" marR="92710" indent="-29146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400" dirty="0">
                          <a:latin typeface="Calibri"/>
                          <a:cs typeface="Calibri"/>
                        </a:rPr>
                        <a:t>Deep</a:t>
                      </a:r>
                      <a:r>
                        <a:rPr sz="1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Learning</a:t>
                      </a:r>
                      <a:r>
                        <a:rPr sz="14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for</a:t>
                      </a:r>
                      <a:r>
                        <a:rPr sz="1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Automated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Pneumonia</a:t>
                      </a:r>
                      <a:r>
                        <a:rPr sz="14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Detection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7675" marR="211454" indent="-215265">
                        <a:lnSpc>
                          <a:spcPct val="100699"/>
                        </a:lnSpc>
                        <a:spcBef>
                          <a:spcPts val="5"/>
                        </a:spcBef>
                      </a:pPr>
                      <a:r>
                        <a:rPr sz="1400" spc="-10" dirty="0">
                          <a:latin typeface="Calibri"/>
                          <a:cs typeface="Calibri"/>
                        </a:rPr>
                        <a:t>Convolutional</a:t>
                      </a:r>
                      <a:r>
                        <a:rPr sz="1400" spc="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Neural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Network</a:t>
                      </a:r>
                      <a:r>
                        <a:rPr sz="14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20" dirty="0">
                          <a:latin typeface="Calibri"/>
                          <a:cs typeface="Calibri"/>
                        </a:rPr>
                        <a:t>(CNN)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6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1430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Accuracy:</a:t>
                      </a:r>
                      <a:r>
                        <a:rPr sz="14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92.4%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668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R="343535" algn="r">
                        <a:lnSpc>
                          <a:spcPct val="100000"/>
                        </a:lnSpc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Elsevier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501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46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2065" algn="ctr">
                        <a:lnSpc>
                          <a:spcPct val="100000"/>
                        </a:lnSpc>
                      </a:pP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2024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7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332105" marR="318135" indent="-151130">
                        <a:lnSpc>
                          <a:spcPct val="100400"/>
                        </a:lnSpc>
                      </a:pPr>
                      <a:r>
                        <a:rPr sz="1400" spc="-10" dirty="0">
                          <a:latin typeface="Calibri"/>
                          <a:cs typeface="Calibri"/>
                        </a:rPr>
                        <a:t>Attention-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guided</a:t>
                      </a:r>
                      <a:r>
                        <a:rPr sz="14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CNN</a:t>
                      </a:r>
                      <a:r>
                        <a:rPr sz="14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25" dirty="0">
                          <a:latin typeface="Calibri"/>
                          <a:cs typeface="Calibri"/>
                        </a:rPr>
                        <a:t>for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Medical</a:t>
                      </a:r>
                      <a:r>
                        <a:rPr sz="14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20" dirty="0">
                          <a:latin typeface="Calibri"/>
                          <a:cs typeface="Calibri"/>
                        </a:rPr>
                        <a:t>Image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Classification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485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6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447675" marR="231140" indent="-213360">
                        <a:lnSpc>
                          <a:spcPct val="100499"/>
                        </a:lnSpc>
                        <a:spcBef>
                          <a:spcPts val="5"/>
                        </a:spcBef>
                      </a:pPr>
                      <a:r>
                        <a:rPr sz="1400" dirty="0">
                          <a:latin typeface="Calibri"/>
                          <a:cs typeface="Calibri"/>
                        </a:rPr>
                        <a:t>ConvCNN</a:t>
                      </a:r>
                      <a:r>
                        <a:rPr sz="14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+</a:t>
                      </a:r>
                      <a:r>
                        <a:rPr sz="1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Spatial Attentionolutiona l</a:t>
                      </a:r>
                      <a:r>
                        <a:rPr sz="1400" spc="-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Neural</a:t>
                      </a:r>
                      <a:r>
                        <a:rPr sz="14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Network (CNN)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479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1430" algn="ctr">
                        <a:lnSpc>
                          <a:spcPct val="100000"/>
                        </a:lnSpc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Accuracy:</a:t>
                      </a:r>
                      <a:r>
                        <a:rPr sz="14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95.1%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43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502284">
                        <a:lnSpc>
                          <a:spcPct val="100000"/>
                        </a:lnSpc>
                      </a:pPr>
                      <a:r>
                        <a:rPr sz="1400" spc="-10" dirty="0">
                          <a:latin typeface="Calibri"/>
                          <a:cs typeface="Calibri"/>
                        </a:rPr>
                        <a:t>Springer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524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3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1430" algn="ctr">
                        <a:lnSpc>
                          <a:spcPct val="100000"/>
                        </a:lnSpc>
                      </a:pP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2022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5684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19760" marR="320040" indent="-283845">
                        <a:lnSpc>
                          <a:spcPct val="100699"/>
                        </a:lnSpc>
                        <a:spcBef>
                          <a:spcPts val="1095"/>
                        </a:spcBef>
                      </a:pPr>
                      <a:r>
                        <a:rPr sz="1400" dirty="0">
                          <a:latin typeface="Calibri"/>
                          <a:cs typeface="Calibri"/>
                        </a:rPr>
                        <a:t>Vision</a:t>
                      </a:r>
                      <a:r>
                        <a:rPr sz="14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Transformers</a:t>
                      </a:r>
                      <a:r>
                        <a:rPr sz="14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25" dirty="0">
                          <a:latin typeface="Calibri"/>
                          <a:cs typeface="Calibri"/>
                        </a:rPr>
                        <a:t>for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X-Ray</a:t>
                      </a:r>
                      <a:r>
                        <a:rPr sz="1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Diagnosis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390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13335" algn="ctr">
                        <a:lnSpc>
                          <a:spcPct val="100000"/>
                        </a:lnSpc>
                      </a:pPr>
                      <a:r>
                        <a:rPr sz="1400" dirty="0">
                          <a:latin typeface="Calibri"/>
                          <a:cs typeface="Calibri"/>
                        </a:rPr>
                        <a:t>Vision</a:t>
                      </a:r>
                      <a:r>
                        <a:rPr sz="14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Transformer</a:t>
                      </a:r>
                      <a:r>
                        <a:rPr sz="1400" spc="-7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(ViT)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1524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12700" algn="ctr">
                        <a:lnSpc>
                          <a:spcPct val="100000"/>
                        </a:lnSpc>
                      </a:pPr>
                      <a:r>
                        <a:rPr sz="1400" dirty="0">
                          <a:latin typeface="Calibri"/>
                          <a:cs typeface="Calibri"/>
                        </a:rPr>
                        <a:t>Accuracy:</a:t>
                      </a:r>
                      <a:r>
                        <a:rPr sz="14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20" dirty="0">
                          <a:latin typeface="Calibri"/>
                          <a:cs typeface="Calibri"/>
                        </a:rPr>
                        <a:t>94.8%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" y="56514"/>
            <a:ext cx="541655" cy="6743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330"/>
            <a:ext cx="9752964" cy="7307833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2145538" y="429514"/>
            <a:ext cx="6090284" cy="842281"/>
          </a:xfrm>
          <a:prstGeom prst="rect">
            <a:avLst/>
          </a:prstGeom>
        </p:spPr>
        <p:txBody>
          <a:bodyPr vert="horz" wrap="square" lIns="0" tIns="376935" rIns="0" bIns="0" rtlCol="0">
            <a:spAutoFit/>
          </a:bodyPr>
          <a:lstStyle/>
          <a:p>
            <a:pPr marL="1678305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OBJECTIVE</a:t>
            </a:r>
            <a:endParaRPr spc="-20" dirty="0"/>
          </a:p>
        </p:txBody>
      </p:sp>
      <p:sp>
        <p:nvSpPr>
          <p:cNvPr id="4" name="object 4"/>
          <p:cNvSpPr txBox="1"/>
          <p:nvPr/>
        </p:nvSpPr>
        <p:spPr>
          <a:xfrm>
            <a:off x="1143000" y="1676400"/>
            <a:ext cx="8305800" cy="4867807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241300" marR="692150" indent="-228600" algn="just">
              <a:lnSpc>
                <a:spcPts val="2760"/>
              </a:lnSpc>
              <a:spcBef>
                <a:spcPts val="290"/>
              </a:spcBef>
              <a:buFont typeface="Wingdings"/>
              <a:buChar char=""/>
              <a:tabLst>
                <a:tab pos="241300" algn="l"/>
                <a:tab pos="499745" algn="l"/>
              </a:tabLst>
            </a:pPr>
            <a:r>
              <a:rPr lang="en-US" sz="2400" dirty="0">
                <a:latin typeface="Times New Roman"/>
                <a:cs typeface="Times New Roman"/>
              </a:rPr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build a robust Deep Learning model that can highly accurately classify Chest X-rays into 'Normal' and 'Pneumonia' classes.</a:t>
            </a:r>
          </a:p>
          <a:p>
            <a:pPr marL="12700" marR="692150" algn="just">
              <a:lnSpc>
                <a:spcPts val="2760"/>
              </a:lnSpc>
              <a:spcBef>
                <a:spcPts val="290"/>
              </a:spcBef>
              <a:tabLst>
                <a:tab pos="241300" algn="l"/>
                <a:tab pos="499745" algn="l"/>
              </a:tabLst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41300" marR="692150" indent="-228600" algn="just">
              <a:lnSpc>
                <a:spcPts val="2760"/>
              </a:lnSpc>
              <a:spcBef>
                <a:spcPts val="290"/>
              </a:spcBef>
              <a:buFont typeface="Wingdings"/>
              <a:buChar char=""/>
              <a:tabLst>
                <a:tab pos="241300" algn="l"/>
                <a:tab pos="499745" algn="l"/>
              </a:tabLs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compare and evaluate the performance of a Baseline CNN, a Spatial Attention-Enhanced CNN, and a pre-trained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model.</a:t>
            </a:r>
          </a:p>
          <a:p>
            <a:pPr marL="12700" marR="692150" algn="just">
              <a:lnSpc>
                <a:spcPts val="2760"/>
              </a:lnSpc>
              <a:spcBef>
                <a:spcPts val="290"/>
              </a:spcBef>
              <a:tabLst>
                <a:tab pos="241300" algn="l"/>
                <a:tab pos="499745" algn="l"/>
              </a:tabLst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41300" marR="692150" indent="-228600" algn="just">
              <a:lnSpc>
                <a:spcPts val="2760"/>
              </a:lnSpc>
              <a:spcBef>
                <a:spcPts val="290"/>
              </a:spcBef>
              <a:buFont typeface="Wingdings"/>
              <a:buChar char=""/>
              <a:tabLst>
                <a:tab pos="241300" algn="l"/>
                <a:tab pos="499745" algn="l"/>
              </a:tabLst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integrate Grad-CAM heatmaps that highlight suspicious lung regions, ensuring the AI model's predictions are clinically explainable and trustworthy.</a:t>
            </a:r>
          </a:p>
          <a:p>
            <a:pPr marL="12700" marR="692150" algn="just">
              <a:lnSpc>
                <a:spcPts val="2760"/>
              </a:lnSpc>
              <a:spcBef>
                <a:spcPts val="290"/>
              </a:spcBef>
              <a:tabLst>
                <a:tab pos="241300" algn="l"/>
                <a:tab pos="499745" algn="l"/>
              </a:tabLst>
            </a:pP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41300" marR="344170" indent="-228600" algn="just">
              <a:lnSpc>
                <a:spcPts val="2760"/>
              </a:lnSpc>
              <a:spcBef>
                <a:spcPts val="5"/>
              </a:spcBef>
              <a:buFont typeface="Wingdings"/>
              <a:buChar char=""/>
              <a:tabLst>
                <a:tab pos="241300" algn="l"/>
                <a:tab pos="499745" algn="l"/>
              </a:tabLst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deployment-ready inference pipeline that can act as a reliable, fast decision-support system for radiologists in high-volume hospitals.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200" y="420116"/>
            <a:ext cx="541655" cy="6743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4B05-0050-43D7-89F1-5B1980755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5538" y="429514"/>
            <a:ext cx="6090284" cy="461665"/>
          </a:xfrm>
        </p:spPr>
        <p:txBody>
          <a:bodyPr/>
          <a:lstStyle/>
          <a:p>
            <a:pPr algn="ctr"/>
            <a:r>
              <a:rPr lang="en-US" dirty="0"/>
              <a:t>METHODOLOGY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FE58E0-8AA5-ECDD-56FB-898080BA04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76791" y="2667000"/>
            <a:ext cx="8472170" cy="350583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D83035-1B2B-E49E-8045-64B346E49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738" y="1066800"/>
            <a:ext cx="5175883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71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28B66-DC9C-4B70-43F6-82EEB6516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0" y="609600"/>
            <a:ext cx="6090284" cy="461665"/>
          </a:xfrm>
        </p:spPr>
        <p:txBody>
          <a:bodyPr/>
          <a:lstStyle/>
          <a:p>
            <a:r>
              <a:rPr lang="en-US" dirty="0"/>
              <a:t>DATASET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E3C45-6AB1-764B-DD82-AD0D18C98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0600" y="1657052"/>
            <a:ext cx="8265605" cy="4001095"/>
          </a:xfrm>
        </p:spPr>
        <p:txBody>
          <a:bodyPr/>
          <a:lstStyle/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uses the standard Chest X-Ray (Pneumonia) Dataset, which is widely used for healthcare, medical imaging, and automated respiratory infection research.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contains two categories of X-Ray images: Normal (healthy lung fields)  Pneumonia (infected lung fields)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contains real-world clinical patterns such as ground-glass opacities, focal consolidations, pleural effusions, and abnormal lung tissue densities.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q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dataset is used to train and evaluate Deep Learning models like Custom CNN, Spatial Attention CNN, and ResNet-50 for detecting pneumonia using Computer Vision and hierarchical spatial feature extraction techniques.</a:t>
            </a:r>
          </a:p>
        </p:txBody>
      </p:sp>
    </p:spTree>
    <p:extLst>
      <p:ext uri="{BB962C8B-B14F-4D97-AF65-F5344CB8AC3E}">
        <p14:creationId xmlns:p14="http://schemas.microsoft.com/office/powerpoint/2010/main" val="951985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81150">
              <a:lnSpc>
                <a:spcPct val="100000"/>
              </a:lnSpc>
              <a:spcBef>
                <a:spcPts val="100"/>
              </a:spcBef>
            </a:pPr>
            <a:r>
              <a:rPr dirty="0"/>
              <a:t>PROPOSED</a:t>
            </a:r>
            <a:r>
              <a:rPr spc="-70" dirty="0"/>
              <a:t> </a:t>
            </a:r>
            <a:r>
              <a:rPr spc="-20" dirty="0"/>
              <a:t>IDEA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9200" y="1474951"/>
            <a:ext cx="8120126" cy="39990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5440" marR="5080" indent="-342900" algn="just">
              <a:lnSpc>
                <a:spcPct val="100000"/>
              </a:lnSpc>
              <a:spcBef>
                <a:spcPts val="100"/>
              </a:spcBef>
              <a:buSzPct val="95833"/>
              <a:buFont typeface="Wingdings" panose="05000000000000000000" pitchFamily="2" charset="2"/>
              <a:buChar char="q"/>
              <a:tabLst>
                <a:tab pos="116839" algn="l"/>
              </a:tabLst>
            </a:pPr>
            <a:r>
              <a:rPr lang="en-US" sz="2000" dirty="0"/>
              <a:t>The proposed system introduces an advanced, clinically interpretable deep learning framework to automate and accelerate pneumonia detection from chest radiographs.</a:t>
            </a:r>
          </a:p>
          <a:p>
            <a:pPr marL="345440" marR="5080" indent="-342900" algn="just">
              <a:lnSpc>
                <a:spcPct val="100000"/>
              </a:lnSpc>
              <a:spcBef>
                <a:spcPts val="100"/>
              </a:spcBef>
              <a:buSzPct val="95833"/>
              <a:buFont typeface="Wingdings" panose="05000000000000000000" pitchFamily="2" charset="2"/>
              <a:buChar char="q"/>
              <a:tabLst>
                <a:tab pos="116839" algn="l"/>
              </a:tabLst>
            </a:pPr>
            <a:endParaRPr sz="2000" dirty="0">
              <a:latin typeface="Times New Roman"/>
              <a:cs typeface="Times New Roman"/>
            </a:endParaRPr>
          </a:p>
          <a:p>
            <a:pPr marL="345440" marR="215265" indent="-342900" algn="just">
              <a:lnSpc>
                <a:spcPct val="99400"/>
              </a:lnSpc>
              <a:buSzPct val="95833"/>
              <a:buFont typeface="Wingdings" panose="05000000000000000000" pitchFamily="2" charset="2"/>
              <a:buChar char="q"/>
              <a:tabLst>
                <a:tab pos="116839" algn="l"/>
              </a:tabLst>
            </a:pPr>
            <a:r>
              <a:rPr lang="en-US" sz="2000" dirty="0"/>
              <a:t>The system integrates a custom-designed Convolutional Neural Network (CNN) enhanced with a Spatial Attention Module to dynamically focus on highly critical lung opacity regions.</a:t>
            </a:r>
            <a:endParaRPr lang="en-US" sz="2000" dirty="0">
              <a:latin typeface="Times New Roman"/>
              <a:cs typeface="Times New Roman"/>
            </a:endParaRPr>
          </a:p>
          <a:p>
            <a:pPr marL="345440" marR="215265" indent="-342900" algn="just">
              <a:lnSpc>
                <a:spcPct val="99400"/>
              </a:lnSpc>
              <a:buSzPct val="95833"/>
              <a:buFont typeface="Wingdings" panose="05000000000000000000" pitchFamily="2" charset="2"/>
              <a:buChar char="q"/>
              <a:tabLst>
                <a:tab pos="116839" algn="l"/>
              </a:tabLst>
            </a:pPr>
            <a:endParaRPr sz="2000" dirty="0">
              <a:latin typeface="Times New Roman"/>
              <a:cs typeface="Times New Roman"/>
            </a:endParaRPr>
          </a:p>
          <a:p>
            <a:pPr marL="345440" marR="401955" indent="-342900" algn="just">
              <a:lnSpc>
                <a:spcPct val="99400"/>
              </a:lnSpc>
              <a:buSzPct val="95833"/>
              <a:buFont typeface="Wingdings" panose="05000000000000000000" pitchFamily="2" charset="2"/>
              <a:buChar char="q"/>
              <a:tabLst>
                <a:tab pos="116839" algn="l"/>
              </a:tabLst>
            </a:pPr>
            <a:r>
              <a:rPr lang="en-US" sz="2000" dirty="0"/>
              <a:t>The framework ensures absolute clinical transparency and trust by providing: • Grad-CAM attention heatmaps (extracted from the conv3 layer) to visually pinpoint opacity regions • Highly accurate pneumonia probability scores for fast, reliable decision support.</a:t>
            </a:r>
            <a:endParaRPr sz="2000" dirty="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" y="56514"/>
            <a:ext cx="541655" cy="674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82494" y="493639"/>
            <a:ext cx="7074662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38680" algn="ctr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MODULES</a:t>
            </a:r>
            <a:r>
              <a:rPr lang="en-US" spc="-10" dirty="0"/>
              <a:t> DESCRIPTION</a:t>
            </a:r>
            <a:endParaRPr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990600" y="1219200"/>
            <a:ext cx="8686800" cy="57246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0"/>
              </a:spcBef>
              <a:buFont typeface="Wingdings" panose="05000000000000000000" pitchFamily="2" charset="2"/>
              <a:buChar char="q"/>
              <a:tabLst>
                <a:tab pos="317500" algn="l"/>
              </a:tabLst>
            </a:pPr>
            <a:r>
              <a:rPr lang="en-US" sz="1900" dirty="0"/>
              <a:t> </a:t>
            </a:r>
            <a:r>
              <a:rPr lang="en-US" sz="1900" b="1" dirty="0"/>
              <a:t>Data Collection &amp; Pipeline Module</a:t>
            </a:r>
          </a:p>
          <a:p>
            <a:pPr marL="12700">
              <a:spcBef>
                <a:spcPts val="100"/>
              </a:spcBef>
              <a:tabLst>
                <a:tab pos="317500" algn="l"/>
              </a:tabLst>
            </a:pPr>
            <a:r>
              <a:rPr lang="en-US" sz="1900" dirty="0"/>
              <a:t>	  Collects normal and pneumonia chest X-ray images, applying stratified dataset splitting (85% Train / 15% Val) to handle class distributions and feed them stably into </a:t>
            </a:r>
            <a:r>
              <a:rPr lang="en-US" sz="1900" dirty="0" err="1"/>
              <a:t>PyTorch</a:t>
            </a:r>
            <a:r>
              <a:rPr lang="en-US" sz="1900" dirty="0"/>
              <a:t> </a:t>
            </a:r>
            <a:r>
              <a:rPr lang="en-US" sz="1900" dirty="0" err="1"/>
              <a:t>DataLoaders</a:t>
            </a:r>
            <a:r>
              <a:rPr lang="en-US" sz="1900" dirty="0"/>
              <a:t>.</a:t>
            </a:r>
          </a:p>
          <a:p>
            <a:pPr marL="12700">
              <a:spcBef>
                <a:spcPts val="100"/>
              </a:spcBef>
              <a:tabLst>
                <a:tab pos="317500" algn="l"/>
              </a:tabLst>
            </a:pPr>
            <a:endParaRPr lang="en-US" sz="1900" dirty="0"/>
          </a:p>
          <a:p>
            <a:pPr marL="355600" indent="-342900">
              <a:spcBef>
                <a:spcPts val="100"/>
              </a:spcBef>
              <a:buFont typeface="Wingdings" panose="05000000000000000000" pitchFamily="2" charset="2"/>
              <a:buChar char="q"/>
              <a:tabLst>
                <a:tab pos="317500" algn="l"/>
              </a:tabLst>
            </a:pPr>
            <a:r>
              <a:rPr lang="en-US" sz="1900" b="1" dirty="0"/>
              <a:t>Image Preprocessing &amp; Augmentation Module</a:t>
            </a:r>
            <a:endParaRPr lang="en-US" sz="1900" dirty="0">
              <a:latin typeface="Times New Roman"/>
              <a:cs typeface="Times New Roman"/>
            </a:endParaRPr>
          </a:p>
          <a:p>
            <a:pPr>
              <a:spcBef>
                <a:spcPts val="120"/>
              </a:spcBef>
            </a:pPr>
            <a:r>
              <a:rPr lang="en-US" sz="1900" dirty="0"/>
              <a:t>     Performs image resizing intensity normalization, and online augmentations (rotations, flips, color jitter) to prepare radiographs for deep learning.</a:t>
            </a:r>
          </a:p>
          <a:p>
            <a:pPr marL="342900" indent="-342900">
              <a:spcBef>
                <a:spcPts val="120"/>
              </a:spcBef>
              <a:buFont typeface="Wingdings" panose="05000000000000000000" pitchFamily="2" charset="2"/>
              <a:buChar char="q"/>
            </a:pPr>
            <a:endParaRPr lang="en-US" sz="1900" dirty="0"/>
          </a:p>
          <a:p>
            <a:pPr marL="342900" indent="-342900">
              <a:spcBef>
                <a:spcPts val="120"/>
              </a:spcBef>
              <a:buFont typeface="Wingdings" panose="05000000000000000000" pitchFamily="2" charset="2"/>
              <a:buChar char="q"/>
            </a:pPr>
            <a:r>
              <a:rPr lang="en-US" sz="1900" dirty="0"/>
              <a:t> </a:t>
            </a:r>
            <a:r>
              <a:rPr lang="en-US" sz="1900" b="1" dirty="0"/>
              <a:t>Custom Baseline CNN Module</a:t>
            </a:r>
          </a:p>
          <a:p>
            <a:pPr>
              <a:spcBef>
                <a:spcPts val="120"/>
              </a:spcBef>
            </a:pPr>
            <a:r>
              <a:rPr lang="en-US" sz="1900" dirty="0"/>
              <a:t>      Implements a custom Convolutional Neural Network with stacked Conv layers, Batch Normalization, and Max Pooling to establish a baseline for spatial feature extraction.</a:t>
            </a:r>
          </a:p>
          <a:p>
            <a:pPr>
              <a:spcBef>
                <a:spcPts val="120"/>
              </a:spcBef>
            </a:pPr>
            <a:endParaRPr lang="en-US" sz="1900" dirty="0"/>
          </a:p>
          <a:p>
            <a:pPr marL="342900" indent="-342900">
              <a:spcBef>
                <a:spcPts val="120"/>
              </a:spcBef>
              <a:buFont typeface="Wingdings" panose="05000000000000000000" pitchFamily="2" charset="2"/>
              <a:buChar char="q"/>
            </a:pPr>
            <a:r>
              <a:rPr lang="en-US" sz="1900" b="1" dirty="0"/>
              <a:t>Explainability &amp; Prediction Module</a:t>
            </a:r>
          </a:p>
          <a:p>
            <a:pPr>
              <a:spcBef>
                <a:spcPts val="120"/>
              </a:spcBef>
            </a:pPr>
            <a:r>
              <a:rPr lang="en-US" sz="1900" dirty="0"/>
              <a:t>     Generates pneumonia probability scores, superimposes Grad-CAM attention heatmaps on X-rays for clinical explainability, and serves predictions via a Flask inference engine.</a:t>
            </a:r>
          </a:p>
          <a:p>
            <a:pPr>
              <a:spcBef>
                <a:spcPts val="120"/>
              </a:spcBef>
            </a:pPr>
            <a:endParaRPr lang="en-US" sz="2000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" y="56514"/>
            <a:ext cx="541655" cy="6743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9752964" cy="7314544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41911" y="56629"/>
            <a:ext cx="576580" cy="725170"/>
            <a:chOff x="41911" y="56629"/>
            <a:chExt cx="576580" cy="72517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193" y="56629"/>
              <a:ext cx="542048" cy="67489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200" y="94615"/>
              <a:ext cx="541655" cy="67437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911" y="107315"/>
              <a:ext cx="541655" cy="674370"/>
            </a:xfrm>
            <a:prstGeom prst="rect">
              <a:avLst/>
            </a:prstGeom>
          </p:spPr>
        </p:pic>
      </p:grp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4258183" y="773938"/>
            <a:ext cx="162306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-10" dirty="0"/>
              <a:t>OUTPUT</a:t>
            </a:r>
            <a:endParaRPr sz="32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6AE3007-9EF1-A087-9C24-E61FCE7F1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9484" y="1287653"/>
            <a:ext cx="6100457" cy="34273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8EF6F8-0D88-7E33-96AF-F45819F08B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9212" y="4714990"/>
            <a:ext cx="6100457" cy="23625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A19F5-B764-DEEE-FE9D-A21F37C72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5538" y="429514"/>
            <a:ext cx="6090284" cy="461665"/>
          </a:xfrm>
        </p:spPr>
        <p:txBody>
          <a:bodyPr/>
          <a:lstStyle/>
          <a:p>
            <a:pPr algn="ctr"/>
            <a:r>
              <a:rPr lang="en-US" dirty="0"/>
              <a:t>PERFORMANCE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8FB803-1CAE-84DA-2A8C-AE3E4FFA0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6708" y="1365757"/>
            <a:ext cx="8472170" cy="550920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Accuracy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Measures the overall proportion of correctly classified X-ray images (both Normal and Pneumonia).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Recall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Evaluates the model's ability to catch all actual Pneumonia cases, ensuring 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zero missed diagnoses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 &amp; F1-Score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Precision: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Measures the accuracy of positive alerts, reducing false alarms (Normal cases flagged as Pneumonia).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F1-Score: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The harmonic mean of Precision and Recall, proving the model's overall diagnostic balance (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~89% - 91%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 Under the ROC Curve (ROC-AUC)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the model's capability to distinguish between healthy and infected lungs across various threshold settings.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29216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2DF24-BD91-B9F2-F22A-264776667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5538" y="429514"/>
            <a:ext cx="6090284" cy="461665"/>
          </a:xfrm>
        </p:spPr>
        <p:txBody>
          <a:bodyPr/>
          <a:lstStyle/>
          <a:p>
            <a:pPr algn="ctr"/>
            <a:r>
              <a:rPr lang="en-US" dirty="0"/>
              <a:t>RESULTS ACHIEVED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2F9111-01E6-DD43-69EF-2D6738DCF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6708" y="1365757"/>
            <a:ext cx="8472170" cy="5262979"/>
          </a:xfrm>
        </p:spPr>
        <p:txBody>
          <a:bodyPr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Implemented both a Custom Baseline CNN and an advanced Spatial Attention CNN model for chest X-ray image classification.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Achieved highly effective pneumonia detection utilizing Deep Learning and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Vision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techniques.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CNN achieved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96% accuracy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but operated as a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"Black-Box"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model, lacking visual interpretability and spatial localization.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 Attention-Enhanced CNN was selected as the superior clinical model; it integrates Spatial Attention to resolve the black-box limitation by highlighting specific infected lung zones with an accuracy of about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94%.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Generated precise pneumonia probability scores and real-time interactive predictions via a 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Application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false negatives and significantly improved visual trust for radiologists using dynamic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Grad-CAM attention heatmaps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0422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10A70-8F3A-2C99-6FC6-6260C9D06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5538" y="429514"/>
            <a:ext cx="6090284" cy="461665"/>
          </a:xfrm>
        </p:spPr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646B0-40CA-FD5C-8709-2A5D5873E9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6708" y="1365757"/>
            <a:ext cx="8472170" cy="5262979"/>
          </a:xfrm>
        </p:spPr>
        <p:txBody>
          <a:bodyPr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developed deep learning system successfully demonstrates the feasibility of automated, explainable pneumonia detection to support clinical radiological workflows in high-volume healthcare centers.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built and trained custom deep learning architectures (Baseline CNN and Spatial Attention CNN) to automate pneumonia classification from pediatric chest X-ray images.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Solved the critical "black-box" limitation of traditional standard CNNs by implementing a custom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Spatial Attention Block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that forces the network to focus on actual lung consolidation areas.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Integrated 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Grad-CAM explainable heatmaps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to make the system fully transparent and interpretable, allowing radiologists to visually verify the model's prediction areas in real-time.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Deployed the final explainable model on a lightweight, interactive 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Streamlit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Application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to act as a fast, reliable decision-support system to reduce patient turnaround times</a:t>
            </a:r>
          </a:p>
        </p:txBody>
      </p:sp>
    </p:spTree>
    <p:extLst>
      <p:ext uri="{BB962C8B-B14F-4D97-AF65-F5344CB8AC3E}">
        <p14:creationId xmlns:p14="http://schemas.microsoft.com/office/powerpoint/2010/main" val="20440829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5864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02004" y="1689861"/>
            <a:ext cx="8315959" cy="3347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marR="1408430" indent="-2857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Dal</a:t>
            </a:r>
            <a:r>
              <a:rPr sz="1800" b="1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Pozzolo</a:t>
            </a:r>
            <a:r>
              <a:rPr sz="1800" b="1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</a:t>
            </a:r>
            <a:r>
              <a:rPr sz="1800" b="1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  <a:r>
              <a:rPr sz="1800" b="1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al.,</a:t>
            </a:r>
            <a:r>
              <a:rPr sz="1800" b="1"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"Pneumonia</a:t>
            </a:r>
            <a:r>
              <a:rPr sz="1800" i="1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Detection</a:t>
            </a:r>
            <a:r>
              <a:rPr sz="1800" i="1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</a:t>
            </a:r>
            <a:r>
              <a:rPr sz="1800" i="1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sz="1800" i="1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Learning,"</a:t>
            </a:r>
            <a:r>
              <a:rPr sz="1800" i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Symposium</a:t>
            </a: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r>
              <a:rPr sz="18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Computational</a:t>
            </a:r>
            <a:r>
              <a:rPr sz="1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Intelligence,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2015.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98450" marR="5080" indent="-285750">
              <a:lnSpc>
                <a:spcPts val="2150"/>
              </a:lnSpc>
              <a:spcBef>
                <a:spcPts val="2195"/>
              </a:spcBef>
              <a:buFont typeface="Arial" panose="020B0604020202020204" pitchFamily="34" charset="0"/>
              <a:buChar char="•"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Rajpurkar,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P.,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al.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(2017).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"CheXNet: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Radiologist-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Level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Detection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Chest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X-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Rays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sz="18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Learning."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arXiv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preprint.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0000"/>
              </a:lnSpc>
              <a:spcBef>
                <a:spcPts val="2105"/>
              </a:spcBef>
              <a:buFont typeface="Arial" panose="020B0604020202020204" pitchFamily="34" charset="0"/>
              <a:buChar char="•"/>
            </a:pP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98450" marR="276225" indent="-285750">
              <a:lnSpc>
                <a:spcPts val="2150"/>
              </a:lnSpc>
              <a:buFont typeface="Arial" panose="020B0604020202020204" pitchFamily="34" charset="0"/>
              <a:buChar char="•"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Kermany,</a:t>
            </a: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D.</a:t>
            </a: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S.,</a:t>
            </a:r>
            <a:r>
              <a:rPr sz="1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al.</a:t>
            </a:r>
            <a:r>
              <a:rPr sz="1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(2018).</a:t>
            </a:r>
            <a:r>
              <a:rPr sz="1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"Identifying</a:t>
            </a:r>
            <a:r>
              <a:rPr sz="18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Medical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Diagnoses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18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Treatable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Diseases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Image-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</a:t>
            </a:r>
            <a:r>
              <a:rPr sz="18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</a:t>
            </a:r>
            <a:r>
              <a:rPr sz="18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Learning."</a:t>
            </a:r>
            <a:r>
              <a:rPr sz="1800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i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Cell</a:t>
            </a:r>
            <a:r>
              <a:rPr sz="18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98450" marR="317500" indent="-285750">
              <a:lnSpc>
                <a:spcPct val="100000"/>
              </a:lnSpc>
              <a:spcBef>
                <a:spcPts val="2080"/>
              </a:spcBef>
              <a:buFont typeface="Arial" panose="020B0604020202020204" pitchFamily="34" charset="0"/>
              <a:buChar char="•"/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Selvaraju,</a:t>
            </a:r>
            <a:r>
              <a:rPr sz="18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R.</a:t>
            </a:r>
            <a:r>
              <a:rPr sz="18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R.,</a:t>
            </a:r>
            <a:r>
              <a:rPr sz="18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</a:t>
            </a:r>
            <a:r>
              <a:rPr sz="18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al.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(2017).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"Grad-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CAM: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Explanations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</a:t>
            </a:r>
            <a:r>
              <a:rPr sz="18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Networks</a:t>
            </a:r>
            <a:r>
              <a:rPr sz="1800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via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Gradient-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</a:t>
            </a:r>
            <a:r>
              <a:rPr sz="1800" spc="-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Localization."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ICCV.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" y="56514"/>
            <a:ext cx="541655" cy="67437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9752710" cy="7314565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3394075" y="2817952"/>
            <a:ext cx="343852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dirty="0">
                <a:solidFill>
                  <a:srgbClr val="000000"/>
                </a:solidFill>
              </a:rPr>
              <a:t>Thank</a:t>
            </a:r>
            <a:r>
              <a:rPr sz="6000" spc="-250" dirty="0">
                <a:solidFill>
                  <a:srgbClr val="000000"/>
                </a:solidFill>
              </a:rPr>
              <a:t> </a:t>
            </a:r>
            <a:r>
              <a:rPr sz="6000" spc="-430" dirty="0">
                <a:solidFill>
                  <a:srgbClr val="000000"/>
                </a:solidFill>
              </a:rPr>
              <a:t>Y</a:t>
            </a:r>
            <a:r>
              <a:rPr sz="6000" spc="175" dirty="0">
                <a:solidFill>
                  <a:srgbClr val="000000"/>
                </a:solidFill>
              </a:rPr>
              <a:t>ou</a:t>
            </a:r>
            <a:endParaRPr sz="6000"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200" y="50800"/>
            <a:ext cx="538086" cy="6699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181</TotalTime>
  <Words>1077</Words>
  <Application>Microsoft Office PowerPoint</Application>
  <PresentationFormat>Custom</PresentationFormat>
  <Paragraphs>127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Times New Roman</vt:lpstr>
      <vt:lpstr>Wingdings</vt:lpstr>
      <vt:lpstr>Office Theme</vt:lpstr>
      <vt:lpstr>KONGU ENGINEERING COLLEGE  DEPARTMENT OF AI&amp;DS</vt:lpstr>
      <vt:lpstr>PROBLEM STATEMENT</vt:lpstr>
      <vt:lpstr>LITERATURE SURVEY</vt:lpstr>
      <vt:lpstr>OBJECTIVE</vt:lpstr>
      <vt:lpstr>METHODOLOGY</vt:lpstr>
      <vt:lpstr>DATASET DESCRIPTION</vt:lpstr>
      <vt:lpstr>PROPOSED IDEA</vt:lpstr>
      <vt:lpstr>MODULES DESCRIPTION</vt:lpstr>
      <vt:lpstr>OUTPUT</vt:lpstr>
      <vt:lpstr>PERFORMANCE METRICS</vt:lpstr>
      <vt:lpstr>RESULTS ACHIEVED</vt:lpstr>
      <vt:lpstr>CONCLUSION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Work - II Base Paper PPT</dc:title>
  <dc:creator>ROHIT P V</dc:creator>
  <cp:lastModifiedBy>harini 18</cp:lastModifiedBy>
  <cp:revision>3</cp:revision>
  <dcterms:created xsi:type="dcterms:W3CDTF">2026-05-27T17:15:22Z</dcterms:created>
  <dcterms:modified xsi:type="dcterms:W3CDTF">2026-05-28T17:55:01Z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2026-04-22T00:00:00Z</vt:filetime>
  </property>
  <property fmtid="{D5CDD505-2E9C-101B-9397-08002B2CF9AE}" pid="4" name="Creator">
    <vt:lpwstr>Microsoft® Word 2021</vt:lpwstr>
  </property>
  <property fmtid="{D5CDD505-2E9C-101B-9397-08002B2CF9AE}" pid="5" name="LastSaved">
    <vt:filetime>2026-05-27T00:00:00Z</vt:filetime>
  </property>
  <property fmtid="{D5CDD505-2E9C-101B-9397-08002B2CF9AE}" pid="6" name="Producer">
    <vt:lpwstr>Microsoft® Word 2021</vt:lpwstr>
  </property>
</Properties>
</file>