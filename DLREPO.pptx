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58" r:id="rId5"/>
    <p:sldId id="267" r:id="rId6"/>
    <p:sldId id="268" r:id="rId7"/>
    <p:sldId id="261" r:id="rId8"/>
    <p:sldId id="263" r:id="rId9"/>
    <p:sldId id="264" r:id="rId10"/>
    <p:sldId id="270" r:id="rId11"/>
    <p:sldId id="271" r:id="rId12"/>
    <p:sldId id="272" r:id="rId13"/>
    <p:sldId id="265" r:id="rId14"/>
    <p:sldId id="266" r:id="rId15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>
      <p:cViewPr varScale="1">
        <p:scale>
          <a:sx n="79" d="100"/>
          <a:sy n="79" d="100"/>
        </p:scale>
        <p:origin x="141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9752710" cy="73145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538" y="429514"/>
            <a:ext cx="6090284" cy="921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6708" y="1365757"/>
            <a:ext cx="8472170" cy="3505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533400" y="703909"/>
            <a:ext cx="10443731" cy="1091580"/>
          </a:xfrm>
          <a:prstGeom prst="rect">
            <a:avLst/>
          </a:prstGeom>
        </p:spPr>
        <p:txBody>
          <a:bodyPr vert="horz" wrap="square" lIns="0" tIns="227583" rIns="0" bIns="0" rtlCol="0">
            <a:spAutoFit/>
          </a:bodyPr>
          <a:lstStyle/>
          <a:p>
            <a:pPr marL="3460115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chemeClr val="tx1"/>
                </a:solidFill>
              </a:rPr>
              <a:t>KONGU ENGINEERING COLLEGE 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DEPARTMENT OF AI&amp;DS</a:t>
            </a:r>
            <a:endParaRPr sz="27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1457" y="2016781"/>
            <a:ext cx="6440170" cy="4199291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ctr">
              <a:lnSpc>
                <a:spcPts val="3210"/>
              </a:lnSpc>
              <a:spcBef>
                <a:spcPts val="325"/>
              </a:spcBef>
            </a:pPr>
            <a:endParaRPr lang="en-US" sz="2800" b="1" spc="-2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lang="en-US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 PROJECT 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algn="ctr">
              <a:lnSpc>
                <a:spcPct val="150000"/>
              </a:lnSpc>
            </a:pPr>
            <a:r>
              <a:rPr lang="en-US" sz="2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Detection from Chest X-Ray Using Deep CNN and Attention Models</a:t>
            </a:r>
            <a:endParaRPr sz="2200" dirty="0">
              <a:latin typeface="Times New Roman"/>
              <a:cs typeface="Times New Roman"/>
            </a:endParaRPr>
          </a:p>
          <a:p>
            <a:pPr marL="394970" algn="l">
              <a:lnSpc>
                <a:spcPts val="2620"/>
              </a:lnSpc>
              <a:spcBef>
                <a:spcPts val="2455"/>
              </a:spcBef>
            </a:pPr>
            <a:r>
              <a:rPr lang="en-US" sz="2200" b="1" spc="-10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Project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Members</a:t>
            </a:r>
            <a:r>
              <a:rPr lang="en-US" sz="2200" b="1" spc="-10" dirty="0">
                <a:latin typeface="Times New Roman"/>
                <a:cs typeface="Times New Roman"/>
              </a:rPr>
              <a:t> : </a:t>
            </a:r>
            <a:endParaRPr sz="2200" dirty="0">
              <a:latin typeface="Times New Roman"/>
              <a:cs typeface="Times New Roman"/>
            </a:endParaRPr>
          </a:p>
          <a:p>
            <a:pPr marL="1506220" marR="586105" algn="l">
              <a:lnSpc>
                <a:spcPct val="98700"/>
              </a:lnSpc>
              <a:spcBef>
                <a:spcPts val="20"/>
              </a:spcBef>
            </a:pPr>
            <a:r>
              <a:rPr sz="2200" spc="-10" dirty="0">
                <a:latin typeface="Times New Roman"/>
                <a:cs typeface="Times New Roman"/>
              </a:rPr>
              <a:t>KARUNAMBIKA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(24ADR065) </a:t>
            </a:r>
            <a:r>
              <a:rPr sz="2200" dirty="0">
                <a:latin typeface="Times New Roman"/>
                <a:cs typeface="Times New Roman"/>
              </a:rPr>
              <a:t>NAVIN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NAGENDAR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(24ADR092) </a:t>
            </a:r>
            <a:r>
              <a:rPr sz="2200" spc="-20" dirty="0">
                <a:latin typeface="Times New Roman"/>
                <a:cs typeface="Times New Roman"/>
              </a:rPr>
              <a:t>SRIDHARAN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(24ADL193)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7587"/>
            <a:ext cx="2828290" cy="7307580"/>
            <a:chOff x="0" y="7587"/>
            <a:chExt cx="2828290" cy="7307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587"/>
              <a:ext cx="2827908" cy="73074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790" y="5410098"/>
              <a:ext cx="1343659" cy="16189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069" y="152323"/>
              <a:ext cx="1282065" cy="9916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1658" y="493639"/>
            <a:ext cx="609028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607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PROBLEM STATEMENT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3000" y="1752600"/>
            <a:ext cx="7320280" cy="45770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Pneumonia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serious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respiratory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infection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requires 	</a:t>
            </a:r>
            <a:r>
              <a:rPr sz="2200" dirty="0">
                <a:latin typeface="Times New Roman"/>
                <a:cs typeface="Times New Roman"/>
              </a:rPr>
              <a:t>early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diagnosis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immediate</a:t>
            </a:r>
            <a:r>
              <a:rPr sz="2200" spc="-10" dirty="0">
                <a:latin typeface="Times New Roman"/>
                <a:cs typeface="Times New Roman"/>
              </a:rPr>
              <a:t> treatment.</a:t>
            </a:r>
            <a:endParaRPr sz="2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</a:pPr>
            <a:endParaRPr sz="2200" dirty="0">
              <a:latin typeface="Times New Roman"/>
              <a:cs typeface="Times New Roman"/>
            </a:endParaRPr>
          </a:p>
          <a:p>
            <a:pPr marL="355600" marR="365760" indent="-343535" algn="just">
              <a:lnSpc>
                <a:spcPct val="99400"/>
              </a:lnSpc>
              <a:spcBef>
                <a:spcPts val="5"/>
              </a:spcBef>
              <a:buFont typeface="Wingdings"/>
              <a:buChar char="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Chest </a:t>
            </a:r>
            <a:r>
              <a:rPr sz="2200" spc="-25" dirty="0">
                <a:latin typeface="Times New Roman"/>
                <a:cs typeface="Times New Roman"/>
              </a:rPr>
              <a:t>X-</a:t>
            </a:r>
            <a:r>
              <a:rPr sz="2200" dirty="0">
                <a:latin typeface="Times New Roman"/>
                <a:cs typeface="Times New Roman"/>
              </a:rPr>
              <a:t>ray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imaging 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most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diagnostic 	</a:t>
            </a:r>
            <a:r>
              <a:rPr sz="2200" dirty="0">
                <a:latin typeface="Times New Roman"/>
                <a:cs typeface="Times New Roman"/>
              </a:rPr>
              <a:t>tool,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interpretation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radiologists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time-	consuming.</a:t>
            </a:r>
            <a:endParaRPr sz="22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90"/>
              </a:spcBef>
              <a:buFont typeface="Wingdings"/>
              <a:buChar char=""/>
            </a:pPr>
            <a:endParaRPr sz="2200" dirty="0">
              <a:latin typeface="Times New Roman"/>
              <a:cs typeface="Times New Roman"/>
            </a:endParaRPr>
          </a:p>
          <a:p>
            <a:pPr marL="355600" marR="309245" indent="-343535" algn="just">
              <a:lnSpc>
                <a:spcPts val="2870"/>
              </a:lnSpc>
              <a:buFont typeface="Wingdings"/>
              <a:buChar char="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Deep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(like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CNNs)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automatically 	</a:t>
            </a:r>
            <a:r>
              <a:rPr sz="2200" dirty="0">
                <a:latin typeface="Times New Roman"/>
                <a:cs typeface="Times New Roman"/>
              </a:rPr>
              <a:t>learn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extract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spatial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features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 </a:t>
            </a:r>
            <a:r>
              <a:rPr sz="2200" spc="-20" dirty="0">
                <a:latin typeface="Times New Roman"/>
                <a:cs typeface="Times New Roman"/>
              </a:rPr>
              <a:t>X-rays</a:t>
            </a:r>
            <a:endParaRPr sz="2200" dirty="0">
              <a:latin typeface="Times New Roman"/>
              <a:cs typeface="Times New Roman"/>
            </a:endParaRPr>
          </a:p>
          <a:p>
            <a:pPr marL="355600" marR="73025" indent="-343535" algn="just">
              <a:lnSpc>
                <a:spcPts val="2870"/>
              </a:lnSpc>
              <a:spcBef>
                <a:spcPts val="2745"/>
              </a:spcBef>
              <a:buFont typeface="Wingdings"/>
              <a:buChar char="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project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detection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predict 	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patient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Normal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Pneumonia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0" dirty="0">
                <a:latin typeface="Times New Roman"/>
                <a:cs typeface="Times New Roman"/>
              </a:rPr>
              <a:t> high 	</a:t>
            </a:r>
            <a:r>
              <a:rPr sz="2200" spc="-10" dirty="0">
                <a:latin typeface="Times New Roman"/>
                <a:cs typeface="Times New Roman"/>
              </a:rPr>
              <a:t>accuracy.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6514"/>
            <a:ext cx="5416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55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14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55173"/>
              </p:ext>
            </p:extLst>
          </p:nvPr>
        </p:nvGraphicFramePr>
        <p:xfrm>
          <a:off x="1219200" y="1365757"/>
          <a:ext cx="8150147" cy="38158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4520"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JOURNEL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METRICS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4099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Xplore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955" marR="92710" indent="-2914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Automated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Pneumonia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Detection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675" marR="211454" indent="-215265">
                        <a:lnSpc>
                          <a:spcPct val="100699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Convolutional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Neural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(CNN)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92.4%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6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343535" algn="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Elsevier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2105" marR="318135" indent="-151130">
                        <a:lnSpc>
                          <a:spcPct val="1004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Attention-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guided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CNN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Medical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Image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Classification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47675" marR="231140" indent="-213360">
                        <a:lnSpc>
                          <a:spcPct val="100499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ConvCNN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Spatial Attentionolutiona l</a:t>
                      </a:r>
                      <a:r>
                        <a:rPr sz="1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Neural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Network (CNN)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95.1%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4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2284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Springer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760" marR="320040" indent="-283845">
                        <a:lnSpc>
                          <a:spcPct val="100699"/>
                        </a:lnSpc>
                        <a:spcBef>
                          <a:spcPts val="10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Vision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Transformers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X-Ray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Diagnosis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Vision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(ViT)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Accuracy: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94.8%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6514"/>
            <a:ext cx="5416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30"/>
            <a:ext cx="9752964" cy="730783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45538" y="429514"/>
            <a:ext cx="6090284" cy="842281"/>
          </a:xfrm>
          <a:prstGeom prst="rect">
            <a:avLst/>
          </a:prstGeom>
        </p:spPr>
        <p:txBody>
          <a:bodyPr vert="horz" wrap="square" lIns="0" tIns="376935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OBJECTIVE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1143000" y="1676400"/>
            <a:ext cx="8305800" cy="486780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692150" indent="-228600" algn="just">
              <a:lnSpc>
                <a:spcPts val="2760"/>
              </a:lnSpc>
              <a:spcBef>
                <a:spcPts val="290"/>
              </a:spcBef>
              <a:buFont typeface="Wingdings"/>
              <a:buChar char=""/>
              <a:tabLst>
                <a:tab pos="241300" algn="l"/>
                <a:tab pos="49974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robust Deep Learning model that can highly accurately classify Chest X-rays into 'Normal' and 'Pneumonia' classes.</a:t>
            </a:r>
          </a:p>
          <a:p>
            <a:pPr marL="12700" marR="692150" algn="just">
              <a:lnSpc>
                <a:spcPts val="2760"/>
              </a:lnSpc>
              <a:spcBef>
                <a:spcPts val="290"/>
              </a:spcBef>
              <a:tabLst>
                <a:tab pos="241300" algn="l"/>
                <a:tab pos="499745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692150" indent="-228600" algn="just">
              <a:lnSpc>
                <a:spcPts val="2760"/>
              </a:lnSpc>
              <a:spcBef>
                <a:spcPts val="290"/>
              </a:spcBef>
              <a:buFont typeface="Wingdings"/>
              <a:buChar char=""/>
              <a:tabLst>
                <a:tab pos="241300" algn="l"/>
                <a:tab pos="49974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and evaluate the performance of a Baseline CNN, a Spatial Attention-Enhanced CNN, and a pre-trained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  <a:p>
            <a:pPr marL="12700" marR="692150" algn="just">
              <a:lnSpc>
                <a:spcPts val="2760"/>
              </a:lnSpc>
              <a:spcBef>
                <a:spcPts val="290"/>
              </a:spcBef>
              <a:tabLst>
                <a:tab pos="241300" algn="l"/>
                <a:tab pos="499745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692150" indent="-228600" algn="just">
              <a:lnSpc>
                <a:spcPts val="2760"/>
              </a:lnSpc>
              <a:spcBef>
                <a:spcPts val="290"/>
              </a:spcBef>
              <a:buFont typeface="Wingdings"/>
              <a:buChar char=""/>
              <a:tabLst>
                <a:tab pos="241300" algn="l"/>
                <a:tab pos="49974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Grad-CAM heatmaps that highlight suspicious lung regions, ensuring the AI model's predictions are clinically explainable and trustworthy.</a:t>
            </a:r>
          </a:p>
          <a:p>
            <a:pPr marL="12700" marR="692150" algn="just">
              <a:lnSpc>
                <a:spcPts val="2760"/>
              </a:lnSpc>
              <a:spcBef>
                <a:spcPts val="290"/>
              </a:spcBef>
              <a:tabLst>
                <a:tab pos="241300" algn="l"/>
                <a:tab pos="49974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344170" indent="-228600" algn="just">
              <a:lnSpc>
                <a:spcPts val="2760"/>
              </a:lnSpc>
              <a:spcBef>
                <a:spcPts val="5"/>
              </a:spcBef>
              <a:buFont typeface="Wingdings"/>
              <a:buChar char=""/>
              <a:tabLst>
                <a:tab pos="241300" algn="l"/>
                <a:tab pos="49974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deployment-ready inference pipeline that can act as a reliable, fast decision-support system for radiologists in high-volume hospitals.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420116"/>
            <a:ext cx="541655" cy="674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4B05-0050-43D7-89F1-5B198075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538" y="429514"/>
            <a:ext cx="6090284" cy="461665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58E0-8AA5-ECDD-56FB-898080BA0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6791" y="2667000"/>
            <a:ext cx="8472170" cy="35058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83035-1B2B-E49E-8045-64B346E4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738" y="1066800"/>
            <a:ext cx="5175883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1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8B66-DC9C-4B70-43F6-82EEB651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609600"/>
            <a:ext cx="6090284" cy="461665"/>
          </a:xfrm>
        </p:spPr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E3C45-6AB1-764B-DD82-AD0D18C98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657052"/>
            <a:ext cx="8265605" cy="4001095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standard Chest X-Ray (Pneumonia) Dataset, which is widely used for healthcare, medical imaging, and automated respiratory infection research.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two categories of X-Ray images: Normal (healthy lung fields)  Pneumonia (infected lung fields)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real-world clinical patterns such as ground-glass opacities, focal consolidations, pleural effusions, and abnormal lung tissue densities.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used to train and evaluate Deep Learning models like Custom CNN, Spatial Attention CNN, and ResNet-50 for detecting pneumonia using Computer Vision and hierarchical spatial feature extraction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95198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70" dirty="0"/>
              <a:t> </a:t>
            </a:r>
            <a:r>
              <a:rPr spc="-20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474951"/>
            <a:ext cx="8120126" cy="3999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 marR="5080" indent="-342900" algn="just">
              <a:lnSpc>
                <a:spcPct val="100000"/>
              </a:lnSpc>
              <a:spcBef>
                <a:spcPts val="100"/>
              </a:spcBef>
              <a:buSzPct val="95833"/>
              <a:buFont typeface="Wingdings" panose="05000000000000000000" pitchFamily="2" charset="2"/>
              <a:buChar char="q"/>
              <a:tabLst>
                <a:tab pos="116839" algn="l"/>
              </a:tabLst>
            </a:pPr>
            <a:r>
              <a:rPr lang="en-US" sz="2000" dirty="0"/>
              <a:t>The proposed system introduces an advanced, clinically interpretable deep learning framework to automate and accelerate pneumonia detection from chest radiographs.</a:t>
            </a:r>
          </a:p>
          <a:p>
            <a:pPr marL="345440" marR="5080" indent="-342900" algn="just">
              <a:lnSpc>
                <a:spcPct val="100000"/>
              </a:lnSpc>
              <a:spcBef>
                <a:spcPts val="100"/>
              </a:spcBef>
              <a:buSzPct val="95833"/>
              <a:buFont typeface="Wingdings" panose="05000000000000000000" pitchFamily="2" charset="2"/>
              <a:buChar char="q"/>
              <a:tabLst>
                <a:tab pos="116839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345440" marR="215265" indent="-342900" algn="just">
              <a:lnSpc>
                <a:spcPct val="99400"/>
              </a:lnSpc>
              <a:buSzPct val="95833"/>
              <a:buFont typeface="Wingdings" panose="05000000000000000000" pitchFamily="2" charset="2"/>
              <a:buChar char="q"/>
              <a:tabLst>
                <a:tab pos="116839" algn="l"/>
              </a:tabLst>
            </a:pPr>
            <a:r>
              <a:rPr lang="en-US" sz="2000" dirty="0"/>
              <a:t>The system integrates a custom-designed Convolutional Neural Network (CNN) enhanced with a Spatial Attention Module to dynamically focus on highly critical lung opacity regions.</a:t>
            </a:r>
            <a:endParaRPr lang="en-US" sz="2000" dirty="0">
              <a:latin typeface="Times New Roman"/>
              <a:cs typeface="Times New Roman"/>
            </a:endParaRPr>
          </a:p>
          <a:p>
            <a:pPr marL="345440" marR="215265" indent="-342900" algn="just">
              <a:lnSpc>
                <a:spcPct val="99400"/>
              </a:lnSpc>
              <a:buSzPct val="95833"/>
              <a:buFont typeface="Wingdings" panose="05000000000000000000" pitchFamily="2" charset="2"/>
              <a:buChar char="q"/>
              <a:tabLst>
                <a:tab pos="116839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345440" marR="401955" indent="-342900" algn="just">
              <a:lnSpc>
                <a:spcPct val="99400"/>
              </a:lnSpc>
              <a:buSzPct val="95833"/>
              <a:buFont typeface="Wingdings" panose="05000000000000000000" pitchFamily="2" charset="2"/>
              <a:buChar char="q"/>
              <a:tabLst>
                <a:tab pos="116839" algn="l"/>
              </a:tabLst>
            </a:pPr>
            <a:r>
              <a:rPr lang="en-US" sz="2000" dirty="0"/>
              <a:t>The framework ensures absolute clinical transparency and trust by providing: • Grad-CAM attention heatmaps (extracted from the conv3 layer) to visually pinpoint opacity regions • Highly accurate pneumonia probability scores for fast, reliable decision support.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6514"/>
            <a:ext cx="5416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2494" y="493639"/>
            <a:ext cx="707466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8680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MODULES</a:t>
            </a:r>
            <a:r>
              <a:rPr lang="en-US" spc="-10" dirty="0"/>
              <a:t> DESCRIPTION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219200"/>
            <a:ext cx="8686800" cy="5724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  <a:tabLst>
                <a:tab pos="317500" algn="l"/>
              </a:tabLst>
            </a:pPr>
            <a:r>
              <a:rPr lang="en-US" sz="1900" dirty="0"/>
              <a:t> </a:t>
            </a:r>
            <a:r>
              <a:rPr lang="en-US" sz="1900" b="1" dirty="0"/>
              <a:t>Data Collection &amp; Pipeline Module</a:t>
            </a:r>
          </a:p>
          <a:p>
            <a:pPr marL="12700">
              <a:spcBef>
                <a:spcPts val="100"/>
              </a:spcBef>
              <a:tabLst>
                <a:tab pos="317500" algn="l"/>
              </a:tabLst>
            </a:pPr>
            <a:r>
              <a:rPr lang="en-US" sz="1900" dirty="0"/>
              <a:t>	  Collects normal and pneumonia chest X-ray images, applying stratified dataset splitting (85% Train / 15% Val) to handle class distributions and feed them stably into </a:t>
            </a:r>
            <a:r>
              <a:rPr lang="en-US" sz="1900" dirty="0" err="1"/>
              <a:t>PyTorch</a:t>
            </a:r>
            <a:r>
              <a:rPr lang="en-US" sz="1900" dirty="0"/>
              <a:t> </a:t>
            </a:r>
            <a:r>
              <a:rPr lang="en-US" sz="1900" dirty="0" err="1"/>
              <a:t>DataLoaders</a:t>
            </a:r>
            <a:r>
              <a:rPr lang="en-US" sz="1900" dirty="0"/>
              <a:t>.</a:t>
            </a:r>
          </a:p>
          <a:p>
            <a:pPr marL="12700">
              <a:spcBef>
                <a:spcPts val="100"/>
              </a:spcBef>
              <a:tabLst>
                <a:tab pos="317500" algn="l"/>
              </a:tabLst>
            </a:pPr>
            <a:endParaRPr lang="en-US" sz="1900" dirty="0"/>
          </a:p>
          <a:p>
            <a:pPr marL="355600" indent="-342900">
              <a:spcBef>
                <a:spcPts val="100"/>
              </a:spcBef>
              <a:buFont typeface="Wingdings" panose="05000000000000000000" pitchFamily="2" charset="2"/>
              <a:buChar char="q"/>
              <a:tabLst>
                <a:tab pos="317500" algn="l"/>
              </a:tabLst>
            </a:pPr>
            <a:r>
              <a:rPr lang="en-US" sz="1900" b="1" dirty="0"/>
              <a:t>Image Preprocessing &amp; Augmentation Module</a:t>
            </a:r>
            <a:endParaRPr lang="en-US" sz="1900" dirty="0">
              <a:latin typeface="Times New Roman"/>
              <a:cs typeface="Times New Roman"/>
            </a:endParaRPr>
          </a:p>
          <a:p>
            <a:pPr>
              <a:spcBef>
                <a:spcPts val="120"/>
              </a:spcBef>
            </a:pPr>
            <a:r>
              <a:rPr lang="en-US" sz="1900" dirty="0"/>
              <a:t>     Performs image resizing intensity normalization, and online augmentations (rotations, flips, color jitter) to prepare radiographs for deep learning.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q"/>
            </a:pPr>
            <a:endParaRPr lang="en-US" sz="1900" dirty="0"/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q"/>
            </a:pPr>
            <a:r>
              <a:rPr lang="en-US" sz="1900" dirty="0"/>
              <a:t> </a:t>
            </a:r>
            <a:r>
              <a:rPr lang="en-US" sz="1900" b="1" dirty="0"/>
              <a:t>Custom Baseline CNN Module</a:t>
            </a:r>
          </a:p>
          <a:p>
            <a:pPr>
              <a:spcBef>
                <a:spcPts val="120"/>
              </a:spcBef>
            </a:pPr>
            <a:r>
              <a:rPr lang="en-US" sz="1900" dirty="0"/>
              <a:t>      Implements a custom Convolutional Neural Network with stacked Conv layers, Batch Normalization, and Max Pooling to establish a baseline for spatial feature extraction.</a:t>
            </a:r>
          </a:p>
          <a:p>
            <a:pPr>
              <a:spcBef>
                <a:spcPts val="120"/>
              </a:spcBef>
            </a:pPr>
            <a:endParaRPr lang="en-US" sz="1900" dirty="0"/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q"/>
            </a:pPr>
            <a:r>
              <a:rPr lang="en-US" sz="1900" b="1" dirty="0"/>
              <a:t>Explainability &amp; Prediction Module</a:t>
            </a:r>
          </a:p>
          <a:p>
            <a:pPr>
              <a:spcBef>
                <a:spcPts val="120"/>
              </a:spcBef>
            </a:pPr>
            <a:r>
              <a:rPr lang="en-US" sz="1900" dirty="0"/>
              <a:t>     Generates pneumonia probability scores, superimposes Grad-CAM attention heatmaps on X-rays for clinical explainability, and serves predictions via a Flask inference engine.</a:t>
            </a:r>
          </a:p>
          <a:p>
            <a:pPr>
              <a:spcBef>
                <a:spcPts val="120"/>
              </a:spcBef>
            </a:pP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6514"/>
            <a:ext cx="5416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9752964" cy="73145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1911" y="56629"/>
            <a:ext cx="576580" cy="725170"/>
            <a:chOff x="41911" y="56629"/>
            <a:chExt cx="576580" cy="7251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3" y="56629"/>
              <a:ext cx="542048" cy="6748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94615"/>
              <a:ext cx="541655" cy="6743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1" y="107315"/>
              <a:ext cx="541655" cy="67437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258183" y="773938"/>
            <a:ext cx="1623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OUTPUT</a:t>
            </a:r>
            <a:endParaRPr sz="32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E601FA-18ED-8540-C7E8-1EFA8DEF6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391" y="1350012"/>
            <a:ext cx="8279787" cy="5191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19F5-B764-DEEE-FE9D-A21F37C7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538" y="429514"/>
            <a:ext cx="6090284" cy="461665"/>
          </a:xfrm>
        </p:spPr>
        <p:txBody>
          <a:bodyPr/>
          <a:lstStyle/>
          <a:p>
            <a:pPr algn="ctr"/>
            <a:r>
              <a:rPr lang="en-US" dirty="0"/>
              <a:t>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FB803-1CAE-84DA-2A8C-AE3E4FFA0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708" y="1365757"/>
            <a:ext cx="8472170" cy="5509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Accuracy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Measures the overall proportion of correctly classified X-ray images (both Normal and Pneumonia).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model's ability to catch all actual Pneumonia cases, ensuring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missed diagnoses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F1-Score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Precision: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Measures the accuracy of positive alerts, reducing false alarms (Normal cases flagged as Pneumonia).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F1-Score: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harmonic mean of Precision and Recall, proving the model's overall diagnostic balance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~89% - 91%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ROC Curve (ROC-AUC)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model's capability to distinguish between healthy and infected lungs across various threshold settings.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921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DF24-BD91-B9F2-F22A-26477666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538" y="429514"/>
            <a:ext cx="6090284" cy="461665"/>
          </a:xfrm>
        </p:spPr>
        <p:txBody>
          <a:bodyPr/>
          <a:lstStyle/>
          <a:p>
            <a:pPr algn="ctr"/>
            <a:r>
              <a:rPr lang="en-US" dirty="0"/>
              <a:t>RESULTS ACHIEVED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F9111-01E6-DD43-69EF-2D6738DCF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708" y="1365757"/>
            <a:ext cx="8472170" cy="526297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Implemented both a Custom Baseline CNN and an advanced Spatial Attention CNN model for chest X-ray image classification.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Achieved highly effective pneumonia detection utilizing Deep Learning and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techniques.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 achieved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96%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operated as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"Black-Box"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model, lacking visual interpretability and spatial localization.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Attention-Enhanced CNN was selected as the superior clinical model; it integrates Spatial Attention to resolve the black-box limitation by highlighting specific infected lung zones with an accuracy of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precise pneumonia probability scores and real-time interactive predictions via a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false negatives and significantly improved visual trust for radiologists using dynamic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attention heatmaps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422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0A70-8F3A-2C99-6FC6-6260C9D0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538" y="429514"/>
            <a:ext cx="6090284" cy="461665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646B0-40CA-FD5C-8709-2A5D5873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708" y="1365757"/>
            <a:ext cx="8472170" cy="526297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deep learning system successfully demonstrates the feasibility of automated, explainable pneumonia detection to support clinical radiological workflows in high-volume healthcare centers.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and trained custom deep learning architectures (Baseline CNN and Spatial Attention CNN) to automate pneumonia classification from pediatric chest X-ray images.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the critical "black-box" limitation of traditional standard CNNs by implementing a custom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Attention Block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forces the network to focus on actual lung consolidation areas.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explainable heatmaps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make the system fully transparent and interpretable, allowing radiologists to visually verify the model's prediction areas in real-time.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the final explainable model on a lightweight, interactive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act as a fast, reliable decision-support system to reduce patient turnaround times</a:t>
            </a:r>
          </a:p>
        </p:txBody>
      </p:sp>
    </p:spTree>
    <p:extLst>
      <p:ext uri="{BB962C8B-B14F-4D97-AF65-F5344CB8AC3E}">
        <p14:creationId xmlns:p14="http://schemas.microsoft.com/office/powerpoint/2010/main" val="2044082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86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689861"/>
            <a:ext cx="8315959" cy="334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40843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Pozzolo</a:t>
            </a:r>
            <a:r>
              <a:rPr sz="18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sz="1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18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al.,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"Pneumonia</a:t>
            </a:r>
            <a:r>
              <a:rPr sz="18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8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8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8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Learning,"</a:t>
            </a:r>
            <a:r>
              <a:rPr sz="1800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Symposium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Intelligence,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>
              <a:lnSpc>
                <a:spcPts val="2150"/>
              </a:lnSpc>
              <a:spcBef>
                <a:spcPts val="2195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Rajpurkar,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P.,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al.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(2017).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"CheXNet: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Learning."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preprint.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2105"/>
              </a:spcBef>
              <a:buFont typeface="Arial" panose="020B0604020202020204" pitchFamily="34" charset="0"/>
              <a:buChar char="•"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76225" indent="-285750">
              <a:lnSpc>
                <a:spcPts val="2150"/>
              </a:lnSpc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Kermany,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S.,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al.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(2018).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"Identifying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Diagnoses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Treatable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Learning."</a:t>
            </a:r>
            <a:r>
              <a:rPr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317500" indent="-285750">
              <a:lnSpc>
                <a:spcPct val="100000"/>
              </a:lnSpc>
              <a:spcBef>
                <a:spcPts val="208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Selvaraju,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R.,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al.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(2017).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"Grad-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CAM: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Localization."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ICCV.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56514"/>
            <a:ext cx="5416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9752710" cy="73145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94075" y="2817952"/>
            <a:ext cx="34385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00000"/>
                </a:solidFill>
              </a:rPr>
              <a:t>Thank</a:t>
            </a:r>
            <a:r>
              <a:rPr sz="6000" spc="-250" dirty="0">
                <a:solidFill>
                  <a:srgbClr val="000000"/>
                </a:solidFill>
              </a:rPr>
              <a:t> </a:t>
            </a:r>
            <a:r>
              <a:rPr sz="6000" spc="-430" dirty="0">
                <a:solidFill>
                  <a:srgbClr val="000000"/>
                </a:solidFill>
              </a:rPr>
              <a:t>Y</a:t>
            </a:r>
            <a:r>
              <a:rPr sz="6000" spc="175" dirty="0">
                <a:solidFill>
                  <a:srgbClr val="000000"/>
                </a:solidFill>
              </a:rPr>
              <a:t>ou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50800"/>
            <a:ext cx="538086" cy="669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1077</Words>
  <Application>Microsoft Office PowerPoint</Application>
  <PresentationFormat>Custom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KONGU ENGINEERING COLLEGE  DEPARTMENT OF AI&amp;DS</vt:lpstr>
      <vt:lpstr>PROBLEM STATEMENT</vt:lpstr>
      <vt:lpstr>LITERATURE SURVEY</vt:lpstr>
      <vt:lpstr>OBJECTIVE</vt:lpstr>
      <vt:lpstr>METHODOLOGY</vt:lpstr>
      <vt:lpstr>DATASET DESCRIPTION</vt:lpstr>
      <vt:lpstr>PROPOSED IDEA</vt:lpstr>
      <vt:lpstr>MODULES DESCRIPTION</vt:lpstr>
      <vt:lpstr>OUTPUT</vt:lpstr>
      <vt:lpstr>PERFORMANCE METRICS</vt:lpstr>
      <vt:lpstr>RESULTS ACHIEVED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- II Base Paper PPT</dc:title>
  <dc:creator>ROHIT P V</dc:creator>
  <cp:lastModifiedBy>harini 18</cp:lastModifiedBy>
  <cp:revision>2</cp:revision>
  <dcterms:created xsi:type="dcterms:W3CDTF">2026-05-27T17:15:22Z</dcterms:created>
  <dcterms:modified xsi:type="dcterms:W3CDTF">2026-05-28T16:50:53Z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2026-04-22T00:00:00Z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2026-05-27T00:00:00Z</vt:filetime>
  </property>
  <property fmtid="{D5CDD505-2E9C-101B-9397-08002B2CF9AE}" pid="6" name="Producer">
    <vt:lpwstr>Microsoft® Word 2021</vt:lpwstr>
  </property>
</Properties>
</file>